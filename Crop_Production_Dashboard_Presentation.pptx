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A1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A1C"/>
                </a:solidFill>
                <a:latin typeface="Arial"/>
              </a:rPr>
              <a:t>Production (million tonnes)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 (million tonnes)</c:v>
                </c:pt>
              </c:strCache>
            </c:strRef>
          </c:tx>
          <c:spPr>
            <a:solidFill>
              <a:srgbClr val="4F6F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A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Uttar Pradesh</c:v>
                  </c:pt>
                  <c:pt idx="1">
                    <c:v>Maharashtra</c:v>
                  </c:pt>
                  <c:pt idx="2">
                    <c:v>Tamil Nadu</c:v>
                  </c:pt>
                  <c:pt idx="3">
                    <c:v>Karnataka</c:v>
                  </c:pt>
                  <c:pt idx="4">
                    <c:v>West Bengal</c:v>
                  </c:pt>
                  <c:pt idx="5">
                    <c:v>Punjab</c:v>
                  </c:pt>
                  <c:pt idx="6">
                    <c:v>Gujarat</c:v>
                  </c:pt>
                  <c:pt idx="7">
                    <c:v>Andhra Pradesh</c:v>
                  </c:pt>
                  <c:pt idx="8">
                    <c:v>Madhya Pradesh</c:v>
                  </c:pt>
                  <c:pt idx="9">
                    <c:v>Haryana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3224.5</c:v>
                </c:pt>
                <c:pt idx="1">
                  <c:v>1263.6</c:v>
                </c:pt>
                <c:pt idx="2">
                  <c:v>1138.7</c:v>
                </c:pt>
                <c:pt idx="3">
                  <c:v>806.7</c:v>
                </c:pt>
                <c:pt idx="4">
                  <c:v>680.1</c:v>
                </c:pt>
                <c:pt idx="5">
                  <c:v>586.4</c:v>
                </c:pt>
                <c:pt idx="6">
                  <c:v>524.3</c:v>
                </c:pt>
                <c:pt idx="7">
                  <c:v>518.6</c:v>
                </c:pt>
                <c:pt idx="8">
                  <c:v>448.8</c:v>
                </c:pt>
                <c:pt idx="9">
                  <c:v>381.3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A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A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A1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A1C"/>
                </a:solidFill>
                <a:latin typeface="Arial"/>
              </a:rPr>
              <a:t>Product by Crop (selected crops)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Crop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4331F"/>
              </a:solidFill>
              <a:effectLst/>
            </c:spPr>
          </c:dPt>
          <c:dPt>
            <c:idx val="1"/>
            <c:bubble3D val="0"/>
            <c:spPr>
              <a:solidFill>
                <a:srgbClr val="4F6F52"/>
              </a:solidFill>
              <a:effectLst/>
            </c:spPr>
          </c:dPt>
          <c:dPt>
            <c:idx val="2"/>
            <c:bubble3D val="0"/>
            <c:spPr>
              <a:solidFill>
                <a:srgbClr val="C8553D"/>
              </a:solidFill>
              <a:effectLst/>
            </c:spPr>
          </c:dPt>
          <c:dPt>
            <c:idx val="3"/>
            <c:bubble3D val="0"/>
            <c:spPr>
              <a:solidFill>
                <a:srgbClr val="9DB89B"/>
              </a:solidFill>
              <a:effectLst/>
            </c:spPr>
          </c:dPt>
          <c:dPt>
            <c:idx val="4"/>
            <c:bubble3D val="0"/>
            <c:spPr>
              <a:solidFill>
                <a:srgbClr val="D9A44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Sugarcane</c:v>
                </c:pt>
                <c:pt idx="1">
                  <c:v>Rice</c:v>
                </c:pt>
                <c:pt idx="2">
                  <c:v>Wheat</c:v>
                </c:pt>
                <c:pt idx="3">
                  <c:v>Potato</c:v>
                </c:pt>
                <c:pt idx="4">
                  <c:v>Cotton(lint)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60</c:v>
                </c:pt>
                <c:pt idx="1">
                  <c:v>17</c:v>
                </c:pt>
                <c:pt idx="2">
                  <c:v>15</c:v>
                </c:pt>
                <c:pt idx="3">
                  <c:v>5</c:v>
                </c:pt>
                <c:pt idx="4">
                  <c:v>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A1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A1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A1C"/>
                </a:solidFill>
                <a:latin typeface="Arial"/>
              </a:rPr>
              <a:t>Production by Season (billion tonnes, approx.)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 (billion tonnes)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Autumn</c:v>
                  </c:pt>
                  <c:pt idx="1">
                    <c:v>Kharif</c:v>
                  </c:pt>
                  <c:pt idx="2">
                    <c:v>Rabi</c:v>
                  </c:pt>
                  <c:pt idx="3">
                    <c:v>Summer</c:v>
                  </c:pt>
                  <c:pt idx="4">
                    <c:v>Whole Year</c:v>
                  </c:pt>
                  <c:pt idx="5">
                    <c:v>Winter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0.05</c:v>
                </c:pt>
                <c:pt idx="1">
                  <c:v>4</c:v>
                </c:pt>
                <c:pt idx="2">
                  <c:v>2</c:v>
                </c:pt>
                <c:pt idx="3">
                  <c:v>0.15</c:v>
                </c:pt>
                <c:pt idx="4">
                  <c:v>4.4</c:v>
                </c:pt>
                <c:pt idx="5">
                  <c:v>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A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640080"/>
            <a:ext cx="3291840" cy="3291840"/>
          </a:xfrm>
          <a:prstGeom prst="ellipse">
            <a:avLst/>
          </a:prstGeom>
          <a:solidFill>
            <a:srgbClr val="4F6F52"/>
          </a:solidFill>
          <a:ln w="12700">
            <a:solidFill>
              <a:srgbClr val="4F6F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2926080"/>
            <a:ext cx="1645920" cy="16459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0" y="1645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11.19B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 produced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22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DASHBOARD PROJECT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801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Production in India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43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Excel dashboard on production, area, crops and seasons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404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Abinaya 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D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Vivekanandha College of Technology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0" cy="54864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Abinaya S  ·  Vivekanandha College of Technology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80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280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80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7432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46120" y="265176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29000" y="27432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35040" y="265176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0" y="27432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crop records to a dashboard anyone can explore.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0" cy="54864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and objective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Abinaya S  ·  Vivekanandha College of Technology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1417320"/>
          </a:xfrm>
          <a:prstGeom prst="roundRect">
            <a:avLst>
              <a:gd name="adj" fmla="val 7742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234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118872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records cover many states, crops, seasons and years. As raw data, it is hard to see which states lead, which crops dominate and how output changes over time.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417320"/>
          </a:xfrm>
          <a:prstGeom prst="roundRect">
            <a:avLst>
              <a:gd name="adj" fmla="val 7742"/>
            </a:avLst>
          </a:prstGeom>
          <a:solidFill>
            <a:srgbClr val="24331F"/>
          </a:solidFill>
          <a:ln w="12700">
            <a:solidFill>
              <a:srgbClr val="2433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880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83464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Excel dashboard that turns the raw data into KPIs, charts and slicers, so production and cultivated area can be explored quickly.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0" cy="54864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Abinaya S  ·  Vivekanandha College of Technology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06040" cy="1143000"/>
          </a:xfrm>
          <a:prstGeom prst="roundRect">
            <a:avLst>
              <a:gd name="adj" fmla="val 9600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6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crop was grown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06040" cy="1143000"/>
          </a:xfrm>
          <a:prstGeom prst="roundRect">
            <a:avLst>
              <a:gd name="adj" fmla="val 9600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6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 to 2014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06040" cy="1143000"/>
          </a:xfrm>
          <a:prstGeom prst="roundRect">
            <a:avLst>
              <a:gd name="adj" fmla="val 9600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6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Kharif, Rabi, Whole Year...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2606040" cy="1143000"/>
          </a:xfrm>
          <a:prstGeom prst="roundRect">
            <a:avLst>
              <a:gd name="adj" fmla="val 9600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6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063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the crop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46120" y="2423160"/>
            <a:ext cx="2606040" cy="1143000"/>
          </a:xfrm>
          <a:prstGeom prst="roundRect">
            <a:avLst>
              <a:gd name="adj" fmla="val 9600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2900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6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(ha)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3063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Cultivated area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35040" y="2423160"/>
            <a:ext cx="2606040" cy="1143000"/>
          </a:xfrm>
          <a:prstGeom prst="roundRect">
            <a:avLst>
              <a:gd name="adj" fmla="val 9600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6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063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in tonnes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Production in India  ·  Agricultural data  ·  Analysed in Microsoft Excel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0" cy="54864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dashboard was built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Abinaya S  ·  Vivekanandha College of Technology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88720" y="2011680"/>
            <a:ext cx="6766560" cy="0"/>
          </a:xfrm>
          <a:prstGeom prst="line">
            <a:avLst/>
          </a:prstGeom>
          <a:noFill/>
          <a:ln w="38100">
            <a:solidFill>
              <a:srgbClr val="DDE8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640080" cy="640080"/>
          </a:xfrm>
          <a:prstGeom prst="ellipse">
            <a:avLst/>
          </a:prstGeom>
          <a:solidFill>
            <a:srgbClr val="C8553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718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organise the raw data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8960" y="1691640"/>
            <a:ext cx="640080" cy="640080"/>
          </a:xfrm>
          <a:prstGeom prst="ellipse">
            <a:avLst/>
          </a:prstGeom>
          <a:solidFill>
            <a:srgbClr val="4F6F5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08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Summarise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29718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PivotTables for each view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0" y="1691640"/>
            <a:ext cx="640080" cy="640080"/>
          </a:xfrm>
          <a:prstGeom prst="ellipse">
            <a:avLst/>
          </a:prstGeom>
          <a:solidFill>
            <a:srgbClr val="C8553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03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9718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charts and KPI cards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98080" y="1691640"/>
            <a:ext cx="640080" cy="640080"/>
          </a:xfrm>
          <a:prstGeom prst="ellipse">
            <a:avLst/>
          </a:prstGeom>
          <a:solidFill>
            <a:srgbClr val="4F6F5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29718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slicers and finish the layout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0" cy="54864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Abinaya S  ·  Vivekanandha College of Technology</a:t>
            </a:r>
            <a:endParaRPr lang="en-US" sz="1000" dirty="0"/>
          </a:p>
        </p:txBody>
      </p:sp>
      <p:pic>
        <p:nvPicPr>
          <p:cNvPr id="6" name="Image 0" descr="das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749808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0" cy="54864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numbers and trend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Abinaya S  ·  Vivekanandha College of Technology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24331F"/>
          </a:solidFill>
          <a:ln w="12700">
            <a:solidFill>
              <a:srgbClr val="2433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34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11.19B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production (tonnes)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4F6F52"/>
          </a:solidFill>
          <a:ln w="12700">
            <a:solidFill>
              <a:srgbClr val="4F6F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34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2.92B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11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cultivated area (ha)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4114800" cy="3017520"/>
          </a:xfrm>
          <a:prstGeom prst="roundRect">
            <a:avLst>
              <a:gd name="adj" fmla="val 3636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28016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trend, 1997 to 2014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was highest in 1997.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fell sharply in 1998.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1999 onward it stayed fairly steady, with small rises and dips.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0" cy="54864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by state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Abinaya S  ·  Vivekanandha College of Technology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005840"/>
          <a:ext cx="55778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309360" y="1097280"/>
            <a:ext cx="2377440" cy="3291840"/>
          </a:xfrm>
          <a:prstGeom prst="roundRect">
            <a:avLst>
              <a:gd name="adj" fmla="val 4615"/>
            </a:avLst>
          </a:prstGeom>
          <a:solidFill>
            <a:srgbClr val="24331F"/>
          </a:solidFill>
          <a:ln w="12700">
            <a:solidFill>
              <a:srgbClr val="24331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92240" y="1280160"/>
            <a:ext cx="2011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with about 3.22B tonnes, nearly 2.5 times the next state, Maharashtra at 1.26B.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0" cy="54864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Crops and seasons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Abinaya S  ·  Vivekanandha College of Technology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005840"/>
          <a:ext cx="39319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572000" y="1005840"/>
          <a:ext cx="4114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0" cy="54864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Abinaya S  ·  Vivekanandha College of Technology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051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Uttar Pradesh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1051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 in production and cultivated area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874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Sugarcane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18745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60% share among the five selected crops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697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1997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26974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yearly output, then a drop in 1998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520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 Year + Kharif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35204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seasons that produce the most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3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731520"/>
            <a:ext cx="3108960" cy="3108960"/>
          </a:xfrm>
          <a:prstGeom prst="ellipse">
            <a:avLst/>
          </a:prstGeom>
          <a:solidFill>
            <a:srgbClr val="4F6F52"/>
          </a:solidFill>
          <a:ln w="12700">
            <a:solidFill>
              <a:srgbClr val="4F6F5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crop data became an interactive Excel dashboard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charts and slicers make exploring easy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states, dominant crops and seasonal patterns stand out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66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B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Abinaya S  ·  Vivekanandha College of Technology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Production in India Dashboard</dc:title>
  <dc:subject>PptxGenJS Presentation</dc:subject>
  <dc:creator>Abinaya S</dc:creator>
  <cp:lastModifiedBy>Abinaya S</cp:lastModifiedBy>
  <cp:revision>1</cp:revision>
  <dcterms:created xsi:type="dcterms:W3CDTF">2026-10-06T03:58:47Z</dcterms:created>
  <dcterms:modified xsi:type="dcterms:W3CDTF">2026-10-06T03:58:47Z</dcterms:modified>
</cp:coreProperties>
</file>